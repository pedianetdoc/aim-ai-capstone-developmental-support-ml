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4360"/>
            <a:ext cx="2514600" cy="310896"/>
          </a:xfrm>
          <a:prstGeom prst="roundRect">
            <a:avLst>
              <a:gd name="adj" fmla="val 20588"/>
            </a:avLst>
          </a:prstGeom>
          <a:solidFill>
            <a:srgbClr val="1C7C7D">
              <a:alpha val="95000"/>
            </a:srgbClr>
          </a:solidFill>
          <a:ln w="12700">
            <a:solidFill>
              <a:srgbClr val="1C7C7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" y="667512"/>
            <a:ext cx="2295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BUSINESS-FACING PRESENTATION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6675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predictive model to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responsible developmental navigation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94944" y="30632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506C"/>
                </a:solidFill>
              </a:rPr>
              <a:t>AIM AI/ML Capstone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3456432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930"/>
                </a:solidFill>
              </a:rPr>
              <a:t>Using population data to explore whether machine learning can support earlier developmental review while avoiding diagnostic overreach.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32520" y="100584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33688" y="11704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👧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464040" y="2423160"/>
            <a:ext cx="0" cy="914400"/>
          </a:xfrm>
          <a:prstGeom prst="line">
            <a:avLst/>
          </a:prstGeom>
          <a:noFill/>
          <a:ln w="38100">
            <a:solidFill>
              <a:srgbClr val="1C7C7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09560" y="3429000"/>
            <a:ext cx="3200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FE8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3685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043"/>
                </a:solidFill>
              </a:rPr>
              <a:t>developmental review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4944" y="6080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7A"/>
                </a:solidFill>
              </a:rPr>
              <a:t>Victoria Nolasco, 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199"/>
                </a:solidFill>
              </a:rPr>
              <a:t>AIM AI Capstone • Business deck •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problem: demand exceeds specialist capacity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05840" cy="0"/>
          </a:xfrm>
          <a:prstGeom prst="line">
            <a:avLst/>
          </a:prstGeom>
          <a:noFill/>
          <a:ln w="27940">
            <a:solidFill>
              <a:srgbClr val="2B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C7D"/>
                </a:solidFill>
              </a:rPr>
              <a:t>CURRENT REALITY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043"/>
                </a:solidFill>
              </a:rPr>
              <a:t>Families ask for developmental assessment when the system is already crowded.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7706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D2930"/>
                </a:solidFill>
              </a:rPr>
              <a:t>Specialist slots are scarce and waitlists grow quickly</a:t>
            </a:r>
            <a:endParaRPr lang="en-US" sz="1400" dirty="0"/>
          </a:p>
          <a:p>
            <a:r>
              <a:rPr lang="en-US" sz="1400" dirty="0">
                <a:solidFill>
                  <a:srgbClr val="1D2930"/>
                </a:solidFill>
              </a:rPr>
              <a:t>Families may not know whether concern warrants urgent action</a:t>
            </a:r>
            <a:endParaRPr lang="en-US" sz="1400" dirty="0"/>
          </a:p>
          <a:p>
            <a:r>
              <a:rPr lang="en-US" sz="1400" dirty="0">
                <a:solidFill>
                  <a:srgbClr val="1D2930"/>
                </a:solidFill>
              </a:rPr>
              <a:t>Missions and clinics need a lightweight intake logic</a:t>
            </a:r>
            <a:endParaRPr lang="en-US" sz="1400" dirty="0"/>
          </a:p>
          <a:p>
            <a:r>
              <a:rPr lang="en-US" sz="1400" dirty="0">
                <a:solidFill>
                  <a:srgbClr val="1D2930"/>
                </a:solidFill>
              </a:rPr>
              <a:t>Current recognition patterns may miss some children, especially girls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6446520" y="1463040"/>
            <a:ext cx="4343400" cy="914400"/>
          </a:xfrm>
          <a:prstGeom prst="chevron">
            <a:avLst/>
          </a:prstGeom>
          <a:solidFill>
            <a:srgbClr val="BFE8E1">
              <a:alpha val="90000"/>
            </a:srgbClr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7556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43"/>
                </a:solidFill>
              </a:rPr>
              <a:t>Many inquiries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5400000">
            <a:off x="6858000" y="2542032"/>
            <a:ext cx="3520440" cy="822960"/>
          </a:xfrm>
          <a:prstGeom prst="chevron">
            <a:avLst/>
          </a:prstGeom>
          <a:solidFill>
            <a:srgbClr val="E9D8B4">
              <a:alpha val="92000"/>
            </a:srgbClr>
          </a:solidFill>
          <a:ln w="12700">
            <a:solidFill>
              <a:srgbClr val="E9D8B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42632" y="2807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43"/>
                </a:solidFill>
              </a:rPr>
              <a:t>Limited triage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rot="5400000">
            <a:off x="7269480" y="3493008"/>
            <a:ext cx="2697480" cy="822960"/>
          </a:xfrm>
          <a:prstGeom prst="chevron">
            <a:avLst/>
          </a:prstGeom>
          <a:solidFill>
            <a:srgbClr val="D86C5B">
              <a:alpha val="95000"/>
            </a:srgbClr>
          </a:solidFill>
          <a:ln w="12700">
            <a:solidFill>
              <a:srgbClr val="D86C5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3758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Few specialist slots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22792" y="4498848"/>
            <a:ext cx="0" cy="731520"/>
          </a:xfrm>
          <a:prstGeom prst="line">
            <a:avLst/>
          </a:prstGeom>
          <a:noFill/>
          <a:ln w="2794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46520" y="55595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7C7D"/>
                </a:solidFill>
              </a:rPr>
              <a:t>Opportunity: use ML as an intake support layer, not as a diagnostic gatekeeper.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8696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199"/>
                </a:solidFill>
              </a:rPr>
              <a:t>AIM AI Capstone • Business deck •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use case: developmental navigation, not diagnosis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05840" cy="0"/>
          </a:xfrm>
          <a:prstGeom prst="line">
            <a:avLst/>
          </a:prstGeom>
          <a:noFill/>
          <a:ln w="27940">
            <a:solidFill>
              <a:srgbClr val="2BA7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920240"/>
            <a:ext cx="685800" cy="685800"/>
          </a:xfrm>
          <a:prstGeom prst="ellipse">
            <a:avLst/>
          </a:prstGeom>
          <a:solidFill>
            <a:srgbClr val="1C7C7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73352" y="2103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43"/>
                </a:solidFill>
              </a:rPr>
              <a:t>Family / mission intake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317296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7A"/>
                </a:solidFill>
              </a:rPr>
              <a:t>brief caregiver-observable questionnaire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40280" y="2267712"/>
            <a:ext cx="1143000" cy="0"/>
          </a:xfrm>
          <a:prstGeom prst="line">
            <a:avLst/>
          </a:prstGeom>
          <a:noFill/>
          <a:ln w="2540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51960" y="1920240"/>
            <a:ext cx="685800" cy="685800"/>
          </a:xfrm>
          <a:prstGeom prst="ellipse">
            <a:avLst/>
          </a:prstGeom>
          <a:solidFill>
            <a:srgbClr val="2BA7A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2103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43"/>
                </a:solidFill>
              </a:rPr>
              <a:t>Risk score + domains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317296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7A"/>
                </a:solidFill>
              </a:rPr>
              <a:t>patterns linked to recognized support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0" y="2267712"/>
            <a:ext cx="1143000" cy="0"/>
          </a:xfrm>
          <a:prstGeom prst="line">
            <a:avLst/>
          </a:prstGeom>
          <a:noFill/>
          <a:ln w="2540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40880" y="1920240"/>
            <a:ext cx="685800" cy="685800"/>
          </a:xfrm>
          <a:prstGeom prst="ellipse">
            <a:avLst/>
          </a:prstGeom>
          <a:solidFill>
            <a:srgbClr val="D99A2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1192" y="2103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83464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43"/>
                </a:solidFill>
              </a:rPr>
              <a:t>Next-step guidance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63640" y="317296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7A"/>
                </a:solidFill>
              </a:rPr>
              <a:t>watch, screen, review, refer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2267712"/>
            <a:ext cx="1143000" cy="0"/>
          </a:xfrm>
          <a:prstGeom prst="line">
            <a:avLst/>
          </a:prstGeom>
          <a:noFill/>
          <a:ln w="2540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29800" y="1920240"/>
            <a:ext cx="685800" cy="685800"/>
          </a:xfrm>
          <a:prstGeom prst="ellipse">
            <a:avLst/>
          </a:prstGeom>
          <a:solidFill>
            <a:srgbClr val="66506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40112" y="2103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0" y="283464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43"/>
                </a:solidFill>
              </a:rPr>
              <a:t>Human decision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52560" y="317296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7A"/>
                </a:solidFill>
              </a:rPr>
              <a:t>clinician / team confirms pathway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0120" y="4709160"/>
            <a:ext cx="10195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E8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9103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C7D"/>
                </a:solidFill>
              </a:rPr>
              <a:t>Positioning guardrail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01568" y="4864608"/>
            <a:ext cx="7296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23043"/>
                </a:solidFill>
              </a:rPr>
              <a:t>The model supports prioritization and conversation. It does not diagnose, deny services, or replace professional judgment.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88696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199"/>
                </a:solidFill>
              </a:rPr>
              <a:t>AIM AI Capstone • Business deck •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of concept: useful signal in public population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05840" cy="0"/>
          </a:xfrm>
          <a:prstGeom prst="line">
            <a:avLst/>
          </a:prstGeom>
          <a:noFill/>
          <a:ln w="27940">
            <a:solidFill>
              <a:srgbClr val="2B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7,485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19476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7A"/>
                </a:solidFill>
              </a:rPr>
              <a:t>children ages 3–5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6324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7C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27.1%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063240" y="1947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7A"/>
                </a:solidFill>
              </a:rPr>
              <a:t>positive composite outcome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650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577840" y="19476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7A"/>
                </a:solidFill>
              </a:rPr>
              <a:t>initial candidate predictors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D8B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4.07%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955280" y="19476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7A"/>
                </a:solidFill>
              </a:rPr>
              <a:t>maximum missingness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2788920"/>
            <a:ext cx="10424160" cy="0"/>
          </a:xfrm>
          <a:prstGeom prst="line">
            <a:avLst/>
          </a:prstGeom>
          <a:noFill/>
          <a:ln w="19050">
            <a:solidFill>
              <a:srgbClr val="EDF1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3"/>
                </a:solidFill>
              </a:rPr>
              <a:t>What was modeled?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930"/>
                </a:solidFill>
              </a:rPr>
              <a:t>A composite outcome of recognized developmental concern or support, based on diagnoses, developmental / behavioral treatment, early intervention, special education, and related support indicators.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3"/>
                </a:solidFill>
              </a:rPr>
              <a:t>Why this matters commercially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36941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D2930"/>
                </a:solidFill>
              </a:rPr>
              <a:t>Can be explored before collecting local clinical data</a:t>
            </a:r>
            <a:endParaRPr lang="en-US" sz="1350" dirty="0"/>
          </a:p>
          <a:p>
            <a:r>
              <a:rPr lang="en-US" sz="1350" dirty="0">
                <a:solidFill>
                  <a:srgbClr val="1D2930"/>
                </a:solidFill>
              </a:rPr>
              <a:t>Low-cost way to test feasibility and define validation needs</a:t>
            </a:r>
            <a:endParaRPr lang="en-US" sz="1350" dirty="0"/>
          </a:p>
          <a:p>
            <a:r>
              <a:rPr lang="en-US" sz="1350" dirty="0">
                <a:solidFill>
                  <a:srgbClr val="1D2930"/>
                </a:solidFill>
              </a:rPr>
              <a:t>Creates a research bridge toward clinic, missions, and CHLD workflows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8064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86C5B"/>
                </a:solidFill>
              </a:rPr>
              <a:t>Core caution: the model predicts recognition/support in a dataset, not true developmental need.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8696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199"/>
                </a:solidFill>
              </a:rPr>
              <a:t>AIM AI Capstone • Business deck •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value: focus scarce attention where it may matter most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05840" cy="0"/>
          </a:xfrm>
          <a:prstGeom prst="line">
            <a:avLst/>
          </a:prstGeom>
          <a:noFill/>
          <a:ln w="27940">
            <a:solidFill>
              <a:srgbClr val="2B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329184" cy="329184"/>
          </a:xfrm>
          <a:prstGeom prst="rect">
            <a:avLst/>
          </a:prstGeom>
          <a:solidFill>
            <a:srgbClr val="1C7C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16152" y="16093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3"/>
                </a:solidFill>
              </a:rPr>
              <a:t>Prioritize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07A"/>
                </a:solidFill>
              </a:rPr>
              <a:t>Sort inquiries into practical next-step levels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160" y="1645920"/>
            <a:ext cx="329184" cy="329184"/>
          </a:xfrm>
          <a:prstGeom prst="rect">
            <a:avLst/>
          </a:prstGeom>
          <a:solidFill>
            <a:srgbClr val="1C7C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05072" y="16093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3"/>
                </a:solidFill>
              </a:rPr>
              <a:t>Standardize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07A"/>
                </a:solidFill>
              </a:rPr>
              <a:t>Use consistent intake logic across clinics and missions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1645920"/>
            <a:ext cx="329184" cy="329184"/>
          </a:xfrm>
          <a:prstGeom prst="rect">
            <a:avLst/>
          </a:prstGeom>
          <a:solidFill>
            <a:srgbClr val="1C7C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93992" y="16093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3"/>
                </a:solidFill>
              </a:rPr>
              <a:t>Explain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55080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07A"/>
                </a:solidFill>
              </a:rPr>
              <a:t>Surface developmental domains driving concern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0" y="1645920"/>
            <a:ext cx="329184" cy="329184"/>
          </a:xfrm>
          <a:prstGeom prst="rect">
            <a:avLst/>
          </a:prstGeom>
          <a:solidFill>
            <a:srgbClr val="1C7C7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82912" y="16093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3"/>
                </a:solidFill>
              </a:rPr>
              <a:t>Learn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0" y="2057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07A"/>
                </a:solidFill>
              </a:rPr>
              <a:t>Build evidence for local validation and service planning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3749040"/>
            <a:ext cx="9921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40050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C7D"/>
                </a:solidFill>
              </a:rPr>
              <a:t>ROI is not only financial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440740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23043"/>
                </a:solidFill>
              </a:rPr>
              <a:t>The near-term return is operational: fewer ad hoc replies, more structured intake, clearer routing, and better evidence for resource planning. Financial ROI comes later through validated workflow efficiency and scalable service design.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1143000" y="58064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506C"/>
                </a:solidFill>
              </a:rPr>
              <a:t>Candidate KPIs: intake completion rate • time-to-next-step • referral uptake • fairness gaps • clinician review burden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199"/>
                </a:solidFill>
              </a:rPr>
              <a:t>AIM AI Capstone • Business deck •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result: a reduced model preserved performance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05840" cy="0"/>
          </a:xfrm>
          <a:prstGeom prst="line">
            <a:avLst/>
          </a:prstGeom>
          <a:noFill/>
          <a:ln w="27940">
            <a:solidFill>
              <a:srgbClr val="2B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53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7A"/>
                </a:solidFill>
              </a:rPr>
              <a:t>Final cross-validated comparison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700784"/>
            <a:ext cx="10561320" cy="457200"/>
          </a:xfrm>
          <a:prstGeom prst="rect">
            <a:avLst/>
          </a:prstGeom>
          <a:solidFill>
            <a:srgbClr val="123043"/>
          </a:solidFill>
          <a:ln w="12700">
            <a:solidFill>
              <a:srgbClr val="1230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3794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Model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3383280" y="18379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Features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572000" y="18379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ROC-AUC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715000" y="18379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PR-AUC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812280" y="18379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F1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818120" y="18379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Sens.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915400" y="18379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Acc.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77240" y="2176272"/>
            <a:ext cx="105613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DF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4086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A: Full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3383280" y="234086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102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4572000" y="234086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.782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5715000" y="23408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.662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6812280" y="23408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.510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7818120" y="234086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.381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915400" y="234086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.802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777240" y="2679192"/>
            <a:ext cx="105613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DF1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84378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B: Domain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3383280" y="28437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38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4572000" y="28437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.766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5715000" y="28437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.643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6812280" y="28437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.500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7818120" y="28437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.373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8915400" y="28437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1D2930"/>
                </a:solidFill>
              </a:rPr>
              <a:t>.798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777240" y="3182112"/>
            <a:ext cx="10561320" cy="466344"/>
          </a:xfrm>
          <a:prstGeom prst="rect">
            <a:avLst/>
          </a:prstGeom>
          <a:solidFill>
            <a:srgbClr val="EAF6F4"/>
          </a:solidFill>
          <a:ln w="6350">
            <a:solidFill>
              <a:srgbClr val="EDF1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34670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23043"/>
                </a:solidFill>
              </a:rPr>
              <a:t>C: Data-driven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3383280" y="33467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3043"/>
                </a:solidFill>
              </a:rPr>
              <a:t>44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4572000" y="33467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3043"/>
                </a:solidFill>
              </a:rPr>
              <a:t>.785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5715000" y="334670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3043"/>
                </a:solidFill>
              </a:rPr>
              <a:t>.664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812280" y="334670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3043"/>
                </a:solidFill>
              </a:rPr>
              <a:t>.518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7818120" y="33467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3043"/>
                </a:solidFill>
              </a:rPr>
              <a:t>.390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8915400" y="33467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23043"/>
                </a:solidFill>
              </a:rPr>
              <a:t>.803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82296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3"/>
                </a:solidFill>
              </a:rPr>
              <a:t>Executive interpretation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41248" y="4261104"/>
            <a:ext cx="47548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930"/>
                </a:solidFill>
              </a:rPr>
              <a:t>The best reduced model used 44 predictors, fewer than half of the original feature set, and slightly outperformed the full model. This suggests a practical path toward a shorter intake tool, but not yet a deployable clinical product.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92240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43"/>
                </a:solidFill>
              </a:rPr>
              <a:t>Feature burden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537960" y="4407408"/>
            <a:ext cx="3291840" cy="256032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4407408"/>
            <a:ext cx="1417320" cy="256032"/>
          </a:xfrm>
          <a:prstGeom prst="rect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773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C7D"/>
                </a:solidFill>
              </a:rPr>
              <a:t>44 / 102 predictors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37960" y="5102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7A"/>
                </a:solidFill>
              </a:rPr>
              <a:t>≈57% fewer variables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8696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199"/>
                </a:solidFill>
              </a:rPr>
              <a:t>AIM AI Capstone • Business deck •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would operate: thresholds create action zones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05840" cy="0"/>
          </a:xfrm>
          <a:prstGeom prst="line">
            <a:avLst/>
          </a:prstGeom>
          <a:noFill/>
          <a:ln w="27940">
            <a:solidFill>
              <a:srgbClr val="2BA7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2971800" cy="1325880"/>
          </a:xfrm>
          <a:prstGeom prst="chevron">
            <a:avLst/>
          </a:prstGeom>
          <a:solidFill>
            <a:srgbClr val="3D8B61">
              <a:alpha val="95000"/>
            </a:srgbClr>
          </a:solidFill>
          <a:ln w="12700">
            <a:solidFill>
              <a:srgbClr val="3D8B6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8470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Lower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" y="21488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Continue surveillance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routine guidance + developmental watch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572000" y="1600200"/>
            <a:ext cx="2971800" cy="1325880"/>
          </a:xfrm>
          <a:prstGeom prst="chevron">
            <a:avLst/>
          </a:prstGeom>
          <a:solidFill>
            <a:srgbClr val="D99A2B">
              <a:alpha val="95000"/>
            </a:srgbClr>
          </a:solidFill>
          <a:ln w="12700">
            <a:solidFill>
              <a:srgbClr val="D99A2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8470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Middle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36592" y="21488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Structured review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validated screener or clinician intake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2971800" cy="1325880"/>
          </a:xfrm>
          <a:prstGeom prst="chevron">
            <a:avLst/>
          </a:prstGeom>
          <a:solidFill>
            <a:srgbClr val="D86C5B">
              <a:alpha val="95000"/>
            </a:srgbClr>
          </a:solidFill>
          <a:ln w="12700">
            <a:solidFill>
              <a:srgbClr val="D86C5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8470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Higher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9912" y="21488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Consider specialist pathway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820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human-reviewed referral prioritization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43"/>
                </a:solidFill>
              </a:rPr>
              <a:t>Why not one fixed cutoff?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96112" y="4224528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dirty="0">
                <a:solidFill>
                  <a:srgbClr val="1D2930"/>
                </a:solidFill>
              </a:rPr>
              <a:t>A 0.50 threshold maximized caution but missed many positive cases</a:t>
            </a:r>
            <a:endParaRPr lang="en-US" sz="1320" dirty="0"/>
          </a:p>
          <a:p>
            <a:r>
              <a:rPr lang="en-US" sz="1320" dirty="0">
                <a:solidFill>
                  <a:srgbClr val="1D2930"/>
                </a:solidFill>
              </a:rPr>
              <a:t>Lower thresholds detect more children but increase review workload</a:t>
            </a:r>
            <a:endParaRPr lang="en-US" sz="1320" dirty="0"/>
          </a:p>
          <a:p>
            <a:r>
              <a:rPr lang="en-US" sz="1320" dirty="0">
                <a:solidFill>
                  <a:srgbClr val="1D2930"/>
                </a:solidFill>
              </a:rPr>
              <a:t>The “right” threshold depends on downstream action and capacity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400800" y="3749040"/>
            <a:ext cx="4480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BFE8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014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7D"/>
                </a:solidFill>
              </a:rPr>
              <a:t>Business principle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20840" y="437083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043"/>
                </a:solidFill>
              </a:rPr>
              <a:t>Do not equate “flagged” with “diagnosed.” The model should trigger a proportionate next step, not a final decision.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8696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199"/>
                </a:solidFill>
              </a:rPr>
              <a:t>AIM AI Capstone • Business deck •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are manageable only with governance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05840" cy="0"/>
          </a:xfrm>
          <a:prstGeom prst="line">
            <a:avLst/>
          </a:prstGeom>
          <a:noFill/>
          <a:ln w="27940">
            <a:solidFill>
              <a:srgbClr val="2B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81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6C5B"/>
                </a:solidFill>
              </a:rPr>
              <a:t>Risk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C7D"/>
                </a:solidFill>
              </a:rPr>
              <a:t>Mitigation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3"/>
                </a:solidFill>
              </a:rPr>
              <a:t>False reassurance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939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7A"/>
                </a:solidFill>
              </a:rPr>
              <a:t>A child who needs review may be missed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257800" y="2103120"/>
            <a:ext cx="566928" cy="0"/>
          </a:xfrm>
          <a:prstGeom prst="line">
            <a:avLst/>
          </a:prstGeom>
          <a:noFill/>
          <a:ln w="1905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172200" y="19842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930"/>
                </a:solidFill>
              </a:rPr>
              <a:t>Use as triage support, never rule-out diagnosis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868680" y="2587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3"/>
                </a:solidFill>
              </a:rPr>
              <a:t>False positives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8072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7A"/>
                </a:solidFill>
              </a:rPr>
              <a:t>Families may be routed into unnecessary review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257800" y="2816352"/>
            <a:ext cx="566928" cy="0"/>
          </a:xfrm>
          <a:prstGeom prst="line">
            <a:avLst/>
          </a:prstGeom>
          <a:noFill/>
          <a:ln w="1905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172200" y="26974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930"/>
                </a:solidFill>
              </a:rPr>
              <a:t>Proportionate next steps, not automatic specialist referral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68680" y="3300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3"/>
                </a:solidFill>
              </a:rPr>
              <a:t>Recognition bias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5204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7A"/>
                </a:solidFill>
              </a:rPr>
              <a:t>Labels may reflect who gets noticed or supported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257800" y="3529584"/>
            <a:ext cx="566928" cy="0"/>
          </a:xfrm>
          <a:prstGeom prst="line">
            <a:avLst/>
          </a:prstGeom>
          <a:noFill/>
          <a:ln w="1905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172200" y="34107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930"/>
                </a:solidFill>
              </a:rPr>
              <a:t>Monitor sex, age, language, and socioeconomic performance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868680" y="40142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3"/>
                </a:solidFill>
              </a:rPr>
              <a:t>Privacy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233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7A"/>
                </a:solidFill>
              </a:rPr>
              <a:t>Pediatric intake data requires strict minimization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257800" y="4242816"/>
            <a:ext cx="566928" cy="0"/>
          </a:xfrm>
          <a:prstGeom prst="line">
            <a:avLst/>
          </a:prstGeom>
          <a:noFill/>
          <a:ln w="1905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172200" y="412394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930"/>
                </a:solidFill>
              </a:rPr>
              <a:t>Local-first research, de-identification, minimal fields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868680" y="47274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3"/>
                </a:solidFill>
              </a:rPr>
              <a:t>Over-reliance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9469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7A"/>
                </a:solidFill>
              </a:rPr>
              <a:t>Users may treat the output as a diagnosis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257800" y="4956048"/>
            <a:ext cx="566928" cy="0"/>
          </a:xfrm>
          <a:prstGeom prst="line">
            <a:avLst/>
          </a:prstGeom>
          <a:noFill/>
          <a:ln w="1905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172200" y="48371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930"/>
                </a:solidFill>
              </a:rPr>
              <a:t>Human oversight and clear user-facing disclaimers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914400" y="5806440"/>
            <a:ext cx="9966960" cy="402336"/>
          </a:xfrm>
          <a:prstGeom prst="roundRect">
            <a:avLst>
              <a:gd name="adj" fmla="val 11364"/>
            </a:avLst>
          </a:prstGeom>
          <a:solidFill>
            <a:srgbClr val="F8F4EC"/>
          </a:solidFill>
          <a:ln w="12700">
            <a:solidFill>
              <a:srgbClr val="F8F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592531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66506C"/>
                </a:solidFill>
              </a:rPr>
              <a:t>Governance rule: the greater the consequence of the output, the stronger the required human review.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88696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199"/>
                </a:solidFill>
              </a:rPr>
              <a:t>AIM AI Capstone • Business deck •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0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Roadmap: from capstone to responsible pilot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05840" cy="0"/>
          </a:xfrm>
          <a:prstGeom prst="line">
            <a:avLst/>
          </a:prstGeom>
          <a:noFill/>
          <a:ln w="27940">
            <a:solidFill>
              <a:srgbClr val="2B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C7D"/>
                </a:solidFill>
              </a:rPr>
              <a:t>0–3 months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3043"/>
                </a:solidFill>
              </a:rPr>
              <a:t>Research protocol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D2930"/>
                </a:solidFill>
              </a:rPr>
              <a:t>ethics board submission</a:t>
            </a:r>
            <a:endParaRPr lang="en-US" sz="1200" dirty="0"/>
          </a:p>
          <a:p>
            <a:r>
              <a:rPr lang="en-US" sz="1200" dirty="0">
                <a:solidFill>
                  <a:srgbClr val="1D2930"/>
                </a:solidFill>
              </a:rPr>
              <a:t>local data dictionary</a:t>
            </a:r>
            <a:endParaRPr lang="en-US" sz="1200" dirty="0"/>
          </a:p>
          <a:p>
            <a:r>
              <a:rPr lang="en-US" sz="1200" dirty="0">
                <a:solidFill>
                  <a:srgbClr val="1D2930"/>
                </a:solidFill>
              </a:rPr>
              <a:t>workflow and consent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057400"/>
            <a:ext cx="612648" cy="0"/>
          </a:xfrm>
          <a:prstGeom prst="line">
            <a:avLst/>
          </a:prstGeom>
          <a:noFill/>
          <a:ln w="2540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553712" y="1536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C7D"/>
                </a:solidFill>
              </a:rPr>
              <a:t>3–6 months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187452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3043"/>
                </a:solidFill>
              </a:rPr>
              <a:t>Local validation dataset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9432" y="2423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D2930"/>
                </a:solidFill>
              </a:rPr>
              <a:t>clinic / mission intake</a:t>
            </a:r>
            <a:endParaRPr lang="en-US" sz="1200" dirty="0"/>
          </a:p>
          <a:p>
            <a:r>
              <a:rPr lang="en-US" sz="1200" dirty="0">
                <a:solidFill>
                  <a:srgbClr val="1D2930"/>
                </a:solidFill>
              </a:rPr>
              <a:t>human-reviewed outcomes</a:t>
            </a:r>
            <a:endParaRPr lang="en-US" sz="1200" dirty="0"/>
          </a:p>
          <a:p>
            <a:r>
              <a:rPr lang="en-US" sz="1200" dirty="0">
                <a:solidFill>
                  <a:srgbClr val="1D2930"/>
                </a:solidFill>
              </a:rPr>
              <a:t>calibration + fairness checks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25512" y="2057400"/>
            <a:ext cx="612648" cy="0"/>
          </a:xfrm>
          <a:prstGeom prst="line">
            <a:avLst/>
          </a:prstGeom>
          <a:noFill/>
          <a:ln w="25400">
            <a:solidFill>
              <a:srgbClr val="1C7C7D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330184" y="1536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C7D"/>
                </a:solidFill>
              </a:rPr>
              <a:t>6–12 months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30184" y="187452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3043"/>
                </a:solidFill>
              </a:rPr>
              <a:t>Pilot tool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75904" y="2423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D2930"/>
                </a:solidFill>
              </a:rPr>
              <a:t>local-only prototype</a:t>
            </a:r>
            <a:endParaRPr lang="en-US" sz="1200" dirty="0"/>
          </a:p>
          <a:p>
            <a:r>
              <a:rPr lang="en-US" sz="1200" dirty="0">
                <a:solidFill>
                  <a:srgbClr val="1D2930"/>
                </a:solidFill>
              </a:rPr>
              <a:t>dashboard for review</a:t>
            </a:r>
            <a:endParaRPr lang="en-US" sz="1200" dirty="0"/>
          </a:p>
          <a:p>
            <a:r>
              <a:rPr lang="en-US" sz="1200" dirty="0">
                <a:solidFill>
                  <a:srgbClr val="1D2930"/>
                </a:solidFill>
              </a:rPr>
              <a:t>threshold and KPI monitoring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956048"/>
            <a:ext cx="10378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1937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C7D"/>
                </a:solidFill>
              </a:rPr>
              <a:t>Build criterion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9232" y="5175504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043"/>
                </a:solidFill>
              </a:rPr>
              <a:t>Proceed only if local validation shows acceptable calibration, subgroup sensitivity, clinician usability, and manageable review burden.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696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199"/>
                </a:solidFill>
              </a:rPr>
              <a:t>AIM AI Capstone • Business deck •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Recommended executive decision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225296"/>
            <a:ext cx="1188720" cy="0"/>
          </a:xfrm>
          <a:prstGeom prst="line">
            <a:avLst/>
          </a:prstGeom>
          <a:noFill/>
          <a:ln w="31750">
            <a:solidFill>
              <a:srgbClr val="2BA7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FE8E1"/>
                </a:solidFill>
              </a:rPr>
              <a:t>Do not deploy as a clinical screener yet.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7824" y="24871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Use the capstone as the evidence base for a local validation study and a privacy-first intake prototype.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43891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7373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</a:rPr>
              <a:t>Next ask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0" y="214884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23043"/>
                </a:solidFill>
              </a:rPr>
              <a:t>Approve research-protocol preparation</a:t>
            </a:r>
            <a:endParaRPr lang="en-US" sz="1300" dirty="0"/>
          </a:p>
          <a:p>
            <a:r>
              <a:rPr lang="en-US" sz="1300" dirty="0">
                <a:solidFill>
                  <a:srgbClr val="123043"/>
                </a:solidFill>
              </a:rPr>
              <a:t>Define local validation outcomes</a:t>
            </a:r>
            <a:endParaRPr lang="en-US" sz="1300" dirty="0"/>
          </a:p>
          <a:p>
            <a:r>
              <a:rPr lang="en-US" sz="1300" dirty="0">
                <a:solidFill>
                  <a:srgbClr val="123043"/>
                </a:solidFill>
              </a:rPr>
              <a:t>Design a brief caregiver intake workflow</a:t>
            </a:r>
            <a:endParaRPr lang="en-US" sz="1300" dirty="0"/>
          </a:p>
          <a:p>
            <a:r>
              <a:rPr lang="en-US" sz="1300" dirty="0">
                <a:solidFill>
                  <a:srgbClr val="123043"/>
                </a:solidFill>
              </a:rPr>
              <a:t>Pre-specify fairness and safety metrics</a:t>
            </a:r>
            <a:endParaRPr lang="en-US" sz="1300" dirty="0"/>
          </a:p>
          <a:p>
            <a:r>
              <a:rPr lang="en-US" sz="1300" dirty="0">
                <a:solidFill>
                  <a:srgbClr val="123043"/>
                </a:solidFill>
              </a:rPr>
              <a:t>Review after first local dataset is collected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5074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A7A0"/>
                </a:solidFill>
              </a:rPr>
              <a:t>Strategic conclusion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54406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The opportunity is not to replace developmental assessment. It is to make the path toward assessment more structured, equitable, and evidence-guided.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961120" y="65379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8D6DD"/>
                </a:solidFill>
              </a:rPr>
              <a:t>AIM AI/ML Capstone Project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CHLD / AIM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AI Capstone Business Deck</dc:title>
  <dc:subject>AIM AI Capstone Business Deck</dc:subject>
  <dc:creator>OpenAI</dc:creator>
  <cp:lastModifiedBy>OpenAI</cp:lastModifiedBy>
  <cp:revision>1</cp:revision>
  <dcterms:created xsi:type="dcterms:W3CDTF">2026-09-21T15:42:52Z</dcterms:created>
  <dcterms:modified xsi:type="dcterms:W3CDTF">2026-09-21T15:42:52Z</dcterms:modified>
</cp:coreProperties>
</file>