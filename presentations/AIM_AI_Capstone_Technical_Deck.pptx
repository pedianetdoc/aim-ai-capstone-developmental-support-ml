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 AI/ML Capstone | Technical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0" y="65196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NSCH | Ages 3–5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8580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DDECF1"/>
          </a:solidFill>
          <a:ln w="12700">
            <a:solidFill>
              <a:srgbClr val="DDE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49808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D6B"/>
                </a:solidFill>
              </a:rPr>
              <a:t>TECHNICAL DECK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7955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Predicting Recognized Developmental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Concern or Support in Preschool Children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A machine-learning proof of concept using the 2024 U.S. National Survey of Children’s Health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58200" y="960120"/>
            <a:ext cx="2834640" cy="4389120"/>
          </a:xfrm>
          <a:prstGeom prst="roundRect">
            <a:avLst>
              <a:gd name="adj" fmla="val 3226"/>
            </a:avLst>
          </a:prstGeom>
          <a:solidFill>
            <a:srgbClr val="E9F2F4"/>
          </a:solidFill>
          <a:ln w="12700">
            <a:solidFill>
              <a:srgbClr val="D3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0" y="15087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5D6B"/>
                </a:solidFill>
              </a:rPr>
              <a:t>7,485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77824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children ages 3–5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87968" y="2615184"/>
            <a:ext cx="1874520" cy="0"/>
          </a:xfrm>
          <a:prstGeom prst="line">
            <a:avLst/>
          </a:prstGeom>
          <a:noFill/>
          <a:ln w="15240">
            <a:solidFill>
              <a:srgbClr val="B7D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8529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7324D"/>
                </a:solidFill>
              </a:rPr>
              <a:t>27.1%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8641080" y="3383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positive composite outcome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87968" y="3950208"/>
            <a:ext cx="1874520" cy="0"/>
          </a:xfrm>
          <a:prstGeom prst="line">
            <a:avLst/>
          </a:prstGeom>
          <a:noFill/>
          <a:ln w="15240">
            <a:solidFill>
              <a:srgbClr val="B7D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41879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6A5ACD"/>
                </a:solidFill>
              </a:rPr>
              <a:t>44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8641080" y="4709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features in reduced Model 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Victoria Nolasco, 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5440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AIM AI/ML Capstone Project |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framing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Healthcare classification problem with a deliberately non-diagnostic target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49834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6B"/>
                </a:solidFill>
              </a:rPr>
              <a:t>Research question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Can supervised machine learning identify children ages 3–5 who meet a composite outcome of recognized developmental concern or support?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5ACD"/>
                </a:solidFill>
              </a:rPr>
              <a:t>Secondary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Can a smaller, more interpretable feature set retain comparable predictive performance?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70448" y="1353312"/>
            <a:ext cx="5669280" cy="4160520"/>
          </a:xfrm>
          <a:prstGeom prst="roundRect">
            <a:avLst>
              <a:gd name="adj" fmla="val 1319"/>
            </a:avLst>
          </a:prstGeom>
          <a:solidFill>
            <a:srgbClr val="F1F6F8"/>
          </a:solidFill>
          <a:ln w="12700">
            <a:solidFill>
              <a:srgbClr val="D3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D6B"/>
                </a:solidFill>
              </a:rPr>
              <a:t>Task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43800" y="1645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Supervised binary classification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99632" y="2212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D6B"/>
                </a:solidFill>
              </a:rPr>
              <a:t>Target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43800" y="22128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Recognized developmental concern or support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99632" y="2862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D6B"/>
                </a:solidFill>
              </a:rPr>
              <a:t>Primary metrics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43800" y="28620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ROC-AUC • PR-AUC • F1 • sensitivity • precision • specificity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9632" y="3767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A4A"/>
                </a:solidFill>
              </a:rPr>
              <a:t>Guardrail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43800" y="373075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This target reflects recognition and support, not a confirmed diagnosis or latent developmental need.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99632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D6B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43800" y="47823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Future use would be decision support for further review, not autonomous clinical decision-making.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Dataset and outcome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2024 National Survey of Children’s Health, public-use data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371600"/>
            <a:ext cx="24231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71600"/>
            <a:ext cx="64008" cy="1325880"/>
          </a:xfrm>
          <a:prstGeom prst="rect">
            <a:avLst/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51,375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0392" y="20299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rows in source dataset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4231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371600"/>
            <a:ext cx="64008" cy="1325880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7,485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29000" y="20299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children ages 3–5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79008" y="1371600"/>
            <a:ext cx="24231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9008" y="1371600"/>
            <a:ext cx="64008" cy="1325880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07608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102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07608" y="20299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candidate predictors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57616" y="1371600"/>
            <a:ext cx="24231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1371600"/>
            <a:ext cx="64008" cy="132588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86216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27.1%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586216" y="20299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positive outcome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" y="2971800"/>
            <a:ext cx="507492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246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Composite outcome: positive if ≥1 qualifying indicator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6112" y="3730752"/>
            <a:ext cx="45262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Relevant developmental / behavioral / learning / communication diagnosis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Developmental, behavioral, or mental-health treatment or service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Early-intervention or special-education support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Other qualifying developmental support indicators in the survey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989320" y="2971800"/>
            <a:ext cx="5257800" cy="2560320"/>
          </a:xfrm>
          <a:prstGeom prst="roundRect">
            <a:avLst>
              <a:gd name="adj" fmla="val 1786"/>
            </a:avLst>
          </a:prstGeom>
          <a:solidFill>
            <a:srgbClr val="F1F6F8"/>
          </a:solidFill>
          <a:ln w="12700">
            <a:solidFill>
              <a:srgbClr val="D3E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6B"/>
                </a:solidFill>
              </a:rPr>
              <a:t>Data quality snapshot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81928" y="3675888"/>
            <a:ext cx="452628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No exact duplicate rows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Maximum predictor missingness: 4.07%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No predictor &gt;10% missingness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4 variables treated as numeric; 98 as categorical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Age + outcome stratification used for train / test split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566928" y="61447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Source: 2024 U.S. National Survey of Children’s Health Topical Public Use File.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Preprocessing and applied EDA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All transformations were embedded in modeling pipelines to reduce leakage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" y="1600200"/>
            <a:ext cx="16916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755648"/>
            <a:ext cx="548640" cy="54864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865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Filter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7249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Ages 3–5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478024" y="2121408"/>
            <a:ext cx="338328" cy="411480"/>
          </a:xfrm>
          <a:prstGeom prst="chevron">
            <a:avLst/>
          </a:prstGeom>
          <a:solidFill>
            <a:srgbClr val="C9D4DE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1600200"/>
            <a:ext cx="16916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1755648"/>
            <a:ext cx="548640" cy="54864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865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81528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Split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81528" y="27249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80/20, age + outcome stratified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736592" y="2121408"/>
            <a:ext cx="338328" cy="411480"/>
          </a:xfrm>
          <a:prstGeom prst="chevron">
            <a:avLst/>
          </a:prstGeom>
          <a:solidFill>
            <a:srgbClr val="C9D4DE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1600200"/>
            <a:ext cx="16916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7296" y="1755648"/>
            <a:ext cx="548640" cy="54864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1865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0096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Impute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40096" y="27249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Median numeric; mode categorical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995160" y="2121408"/>
            <a:ext cx="338328" cy="411480"/>
          </a:xfrm>
          <a:prstGeom prst="chevron">
            <a:avLst/>
          </a:prstGeom>
          <a:solidFill>
            <a:srgbClr val="C9D4DE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88936" y="1600200"/>
            <a:ext cx="16916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55864" y="1755648"/>
            <a:ext cx="548640" cy="54864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55864" y="1865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98664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Transform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98664" y="27249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Scale numeric; one-hot categorical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9253728" y="2121408"/>
            <a:ext cx="338328" cy="411480"/>
          </a:xfrm>
          <a:prstGeom prst="chevron">
            <a:avLst/>
          </a:prstGeom>
          <a:solidFill>
            <a:srgbClr val="C9D4DE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47504" y="1600200"/>
            <a:ext cx="1691640" cy="1572768"/>
          </a:xfrm>
          <a:prstGeom prst="roundRect">
            <a:avLst>
              <a:gd name="adj" fmla="val 3488"/>
            </a:avLst>
          </a:prstGeom>
          <a:solidFill>
            <a:srgbClr val="E9F2F4"/>
          </a:solidFill>
          <a:ln w="12700">
            <a:solidFill>
              <a:srgbClr val="B9D6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14432" y="1755648"/>
            <a:ext cx="548640" cy="548640"/>
          </a:xfrm>
          <a:prstGeom prst="ellipse">
            <a:avLst/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14432" y="1865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57232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Model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857232" y="27249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Cross-validation on training data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731520" y="3794760"/>
            <a:ext cx="521208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6B"/>
                </a:solidFill>
              </a:rPr>
              <a:t>Applied EDA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87552" y="4407408"/>
            <a:ext cx="448056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Outcome class balance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Age distribution and age-by-outcome strata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Missingness and feature distributions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Subgroup performance checks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36208" y="3794760"/>
            <a:ext cx="5074920" cy="1508760"/>
          </a:xfrm>
          <a:prstGeom prst="roundRect">
            <a:avLst>
              <a:gd name="adj" fmla="val 3030"/>
            </a:avLst>
          </a:prstGeom>
          <a:solidFill>
            <a:srgbClr val="F1F6F8"/>
          </a:solidFill>
          <a:ln w="12700">
            <a:solidFill>
              <a:srgbClr val="D3E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5ACD"/>
                </a:solidFill>
              </a:rPr>
              <a:t>Dimensionality reduction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92240" y="44348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PCA showed substantial overlap between outcome groups in the first two components. The composite outcome is not a simple low-dimensional phenotype.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Modeling strategy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Broad benchmark first, then tune finalists and interrogate model behavior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Initial 5-fold CV benchmark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" y="1773936"/>
            <a:ext cx="5486400" cy="3611880"/>
          </a:xfrm>
          <a:prstGeom prst="roundRect">
            <a:avLst>
              <a:gd name="adj" fmla="val 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77640" y="2011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ROC-AUC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10912" y="2011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PR-AUC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3591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Logistic L1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77640" y="23591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0.774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10912" y="23591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0.653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" y="2706624"/>
            <a:ext cx="5074920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7523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Logistic L2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275234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0.771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10912" y="275234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0.651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31455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Linear SVM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314553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0.770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10912" y="314553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0.649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" y="3493008"/>
            <a:ext cx="5074920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5387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35387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0.762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10912" y="35387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0.632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9319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Gradient Boosting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3931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D6B"/>
                </a:solidFill>
              </a:rPr>
              <a:t>0.776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3931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D6B"/>
                </a:solidFill>
              </a:rPr>
              <a:t>0.656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" y="4279392"/>
            <a:ext cx="5074920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3251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XGBoost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77640" y="43251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0.742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43251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0.610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2688" y="47183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KNN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77640" y="471830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0.625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10912" y="471830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0.413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1773936"/>
            <a:ext cx="4846320" cy="3611880"/>
          </a:xfrm>
          <a:prstGeom prst="roundRect">
            <a:avLst>
              <a:gd name="adj" fmla="val 1266"/>
            </a:avLst>
          </a:prstGeom>
          <a:solidFill>
            <a:srgbClr val="F1F6F8"/>
          </a:solidFill>
          <a:ln w="12700">
            <a:solidFill>
              <a:srgbClr val="D3E4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6B"/>
                </a:solidFill>
              </a:rPr>
              <a:t>Finalists after tuning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84848" y="2606040"/>
            <a:ext cx="1325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84848" y="2606040"/>
            <a:ext cx="64008" cy="1234440"/>
          </a:xfrm>
          <a:prstGeom prst="rect">
            <a:avLst/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13448" y="2807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0.780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013448" y="32644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GB CV ROC-AUC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75320" y="2606040"/>
            <a:ext cx="1325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75320" y="2606040"/>
            <a:ext cx="64008" cy="1234440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2807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0.780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8503920" y="32644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XGB CV ROC-AUC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765792" y="2606040"/>
            <a:ext cx="1325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65792" y="2606040"/>
            <a:ext cx="64008" cy="1234440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94392" y="2807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0.779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9994392" y="32644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LR L2 CV ROC-AUC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84848" y="41605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93B"/>
                </a:solidFill>
              </a:rPr>
              <a:t>Gradient Boosting was retained as the reference model because it combined strong discrimination, slightly better downstream calibration, and convenient tree-based explainability.</a:t>
            </a:r>
            <a:endParaRPr lang="en-US" sz="1180" dirty="0"/>
          </a:p>
        </p:txBody>
      </p:sp>
      <p:sp>
        <p:nvSpPr>
          <p:cNvPr id="48" name="Text 46"/>
          <p:cNvSpPr/>
          <p:nvPr/>
        </p:nvSpPr>
        <p:spPr>
          <a:xfrm>
            <a:off x="566928" y="61447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Cross-validation used training data only. Hyperparameters were tuned before final model comparisons.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Model A: full-feature performance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102 predictors captured useful signal, but the default threshold was too conservative for a screening-oriented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3533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Held-out test performance | Gradient Boosting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" y="1810512"/>
            <a:ext cx="1828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10512"/>
            <a:ext cx="64008" cy="1234440"/>
          </a:xfrm>
          <a:prstGeom prst="rect">
            <a:avLst/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011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0.784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23544" y="2468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ROC-AUC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810512"/>
            <a:ext cx="1828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810512"/>
            <a:ext cx="64008" cy="1234440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011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0.650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26080" y="2468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PR-AUC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0016" y="1810512"/>
            <a:ext cx="1828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1810512"/>
            <a:ext cx="64008" cy="1234440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2011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0.754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28616" y="2468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Precision @ 0.50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02552" y="1810512"/>
            <a:ext cx="1828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02552" y="1810512"/>
            <a:ext cx="64008" cy="1234440"/>
          </a:xfrm>
          <a:prstGeom prst="rect">
            <a:avLst/>
          </a:prstGeom>
          <a:solidFill>
            <a:srgbClr val="B34A4A"/>
          </a:solidFill>
          <a:ln w="12700">
            <a:solidFill>
              <a:srgbClr val="B34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2011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0.369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31152" y="2468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Sensitivity @ 0.50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05088" y="1810512"/>
            <a:ext cx="1828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5088" y="1810512"/>
            <a:ext cx="64008" cy="123444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2011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0.955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933688" y="2468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Specificity @ 0.50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" y="3401568"/>
            <a:ext cx="525780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6B"/>
                </a:solidFill>
              </a:rPr>
              <a:t>Threshold trade-off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" y="41422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0.50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847088" y="409651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high precision / specificity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but low sensitivity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66160" y="4178808"/>
            <a:ext cx="457200" cy="411480"/>
          </a:xfrm>
          <a:prstGeom prst="chevron">
            <a:avLst/>
          </a:prstGeom>
          <a:solidFill>
            <a:srgbClr val="C9D4DE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41422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5ACD"/>
                </a:solidFill>
              </a:rPr>
              <a:t>0.30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36592" y="409651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more positives detected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more children flagged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49560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4A4A"/>
                </a:solidFill>
              </a:rPr>
              <a:t>Operating threshold is a workflow decision, not a diagnostic cutoff.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3401568"/>
            <a:ext cx="5166360" cy="2057400"/>
          </a:xfrm>
          <a:prstGeom prst="roundRect">
            <a:avLst>
              <a:gd name="adj" fmla="val 2222"/>
            </a:avLst>
          </a:prstGeom>
          <a:solidFill>
            <a:srgbClr val="F1F6F8"/>
          </a:solidFill>
          <a:ln w="12700">
            <a:solidFill>
              <a:srgbClr val="D3E4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675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6B"/>
                </a:solidFill>
              </a:rPr>
              <a:t>Calibration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37960" y="4133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Brier score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82128" y="4023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0.1478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6537960" y="466344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Predicted probabilities were reasonably calibrated internally, but external calibration has not been established.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Feature reduction experiment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Can we preserve performance with a smaller, more interpretable predictor set?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246120" cy="39776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6B"/>
                </a:solidFill>
              </a:rPr>
              <a:t>Model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</a:rPr>
              <a:t>102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broad eligible predictors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401568"/>
            <a:ext cx="25603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</a:rPr>
              <a:t>Developmental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</a:rPr>
              <a:t>Medical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</a:rPr>
              <a:t>Family / caregiver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</a:rPr>
              <a:t>ACEs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</a:rPr>
              <a:t>Routines / environment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462272" y="1481328"/>
            <a:ext cx="3246120" cy="3977640"/>
          </a:xfrm>
          <a:prstGeom prst="roundRect">
            <a:avLst>
              <a:gd name="adj" fmla="val 1690"/>
            </a:avLst>
          </a:prstGeom>
          <a:solidFill>
            <a:srgbClr val="F1F6F8"/>
          </a:solidFill>
          <a:ln w="12700">
            <a:solidFill>
              <a:srgbClr val="D3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5ACD"/>
                </a:solidFill>
              </a:rPr>
              <a:t>Model 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2240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</a:rPr>
              <a:t>38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36592" y="2834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domain-informed predictors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36592" y="3401568"/>
            <a:ext cx="25146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</a:rPr>
              <a:t>Caregiver-observable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</a:rPr>
              <a:t>Development-focused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</a:rPr>
              <a:t>Clinically coherent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</a:rPr>
              <a:t>Practical for future intake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275320" y="1481328"/>
            <a:ext cx="3246120" cy="3977640"/>
          </a:xfrm>
          <a:prstGeom prst="roundRect">
            <a:avLst>
              <a:gd name="adj" fmla="val 1690"/>
            </a:avLst>
          </a:prstGeom>
          <a:solidFill>
            <a:srgbClr val="F3F0FB"/>
          </a:solidFill>
          <a:ln w="12700">
            <a:solidFill>
              <a:srgbClr val="D9D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5ACD"/>
                </a:solidFill>
              </a:rPr>
              <a:t>Model 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</a:rPr>
              <a:t>44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549640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data-driven SHAP-ranked predictors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49640" y="3401568"/>
            <a:ext cx="251460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E293B"/>
                </a:solidFill>
              </a:rPr>
              <a:t>Rank Model A by SHAP importance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E293B"/>
                </a:solidFill>
              </a:rPr>
              <a:t>Evaluate top 20, 22, 24…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E293B"/>
                </a:solidFill>
              </a:rPr>
              <a:t>Find performance plateau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E293B"/>
                </a:solidFill>
              </a:rPr>
              <a:t>Retain smallest near-plateau set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3931920" y="56509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D6B"/>
                </a:solidFill>
              </a:rPr>
              <a:t>22 predictors were shared between Models B and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1447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Model C selection was exploratory because SHAP ranking and subset evaluation both used the training dataset. Nested selection would be preferred for confirmatory research.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Final apples-to-apples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Same Gradient Boosting architecture, same 5-fold CV, different feature sets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10972800" cy="4133088"/>
          </a:xfrm>
          <a:prstGeom prst="roundRect">
            <a:avLst>
              <a:gd name="adj" fmla="val 11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824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682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ROC-AUC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1682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PR-AUC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1682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F1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762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Model 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102 features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2926080" y="2212848"/>
            <a:ext cx="2148840" cy="329184"/>
          </a:xfrm>
          <a:prstGeom prst="roundRect">
            <a:avLst>
              <a:gd name="adj" fmla="val 13889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212848"/>
            <a:ext cx="1976933" cy="329184"/>
          </a:xfrm>
          <a:prstGeom prst="roundRect">
            <a:avLst>
              <a:gd name="adj" fmla="val 13889"/>
            </a:avLst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22311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0.782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2212848"/>
            <a:ext cx="2148840" cy="329184"/>
          </a:xfrm>
          <a:prstGeom prst="roundRect">
            <a:avLst>
              <a:gd name="adj" fmla="val 13889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2212848"/>
            <a:ext cx="1673567" cy="329184"/>
          </a:xfrm>
          <a:prstGeom prst="roundRect">
            <a:avLst>
              <a:gd name="adj" fmla="val 13889"/>
            </a:avLst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22311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0.662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2212848"/>
            <a:ext cx="2148840" cy="329184"/>
          </a:xfrm>
          <a:prstGeom prst="roundRect">
            <a:avLst>
              <a:gd name="adj" fmla="val 13889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212848"/>
            <a:ext cx="1289304" cy="329184"/>
          </a:xfrm>
          <a:prstGeom prst="roundRect">
            <a:avLst>
              <a:gd name="adj" fmla="val 13889"/>
            </a:avLst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1472" y="22311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0.510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163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Model 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4747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38 features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2926080" y="3200400"/>
            <a:ext cx="2148840" cy="329184"/>
          </a:xfrm>
          <a:prstGeom prst="roundRect">
            <a:avLst>
              <a:gd name="adj" fmla="val 13889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3200400"/>
            <a:ext cx="1936484" cy="329184"/>
          </a:xfrm>
          <a:prstGeom prst="roundRect">
            <a:avLst>
              <a:gd name="adj" fmla="val 13889"/>
            </a:avLst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32186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0.766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3200400"/>
            <a:ext cx="2148840" cy="329184"/>
          </a:xfrm>
          <a:prstGeom prst="roundRect">
            <a:avLst>
              <a:gd name="adj" fmla="val 13889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3200400"/>
            <a:ext cx="1625534" cy="329184"/>
          </a:xfrm>
          <a:prstGeom prst="roundRect">
            <a:avLst>
              <a:gd name="adj" fmla="val 13889"/>
            </a:avLst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32186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0.643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3200400"/>
            <a:ext cx="2148840" cy="329184"/>
          </a:xfrm>
          <a:prstGeom prst="roundRect">
            <a:avLst>
              <a:gd name="adj" fmla="val 13889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3200400"/>
            <a:ext cx="1264024" cy="329184"/>
          </a:xfrm>
          <a:prstGeom prst="roundRect">
            <a:avLst>
              <a:gd name="adj" fmla="val 13889"/>
            </a:avLst>
          </a:prstGeom>
          <a:solidFill>
            <a:srgbClr val="4F6BED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91472" y="32186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0.500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41513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Model 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4462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</a:rPr>
              <a:t>44 features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2926080" y="4187952"/>
            <a:ext cx="2148840" cy="329184"/>
          </a:xfrm>
          <a:prstGeom prst="roundRect">
            <a:avLst>
              <a:gd name="adj" fmla="val 13889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4187952"/>
            <a:ext cx="1984517" cy="329184"/>
          </a:xfrm>
          <a:prstGeom prst="roundRect">
            <a:avLst>
              <a:gd name="adj" fmla="val 13889"/>
            </a:avLst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4206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0.785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4187952"/>
            <a:ext cx="2148840" cy="329184"/>
          </a:xfrm>
          <a:prstGeom prst="roundRect">
            <a:avLst>
              <a:gd name="adj" fmla="val 13889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0" y="4187952"/>
            <a:ext cx="1678623" cy="329184"/>
          </a:xfrm>
          <a:prstGeom prst="roundRect">
            <a:avLst>
              <a:gd name="adj" fmla="val 13889"/>
            </a:avLst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4206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0.664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46720" y="4187952"/>
            <a:ext cx="2148840" cy="329184"/>
          </a:xfrm>
          <a:prstGeom prst="roundRect">
            <a:avLst>
              <a:gd name="adj" fmla="val 13889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0" y="4187952"/>
            <a:ext cx="1309528" cy="329184"/>
          </a:xfrm>
          <a:prstGeom prst="roundRect">
            <a:avLst>
              <a:gd name="adj" fmla="val 13889"/>
            </a:avLst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91472" y="4206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0.518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0120" y="4736592"/>
            <a:ext cx="10012680" cy="530352"/>
          </a:xfrm>
          <a:prstGeom prst="roundRect">
            <a:avLst>
              <a:gd name="adj" fmla="val 8621"/>
            </a:avLst>
          </a:prstGeom>
          <a:solidFill>
            <a:srgbClr val="F3F0FB"/>
          </a:solidFill>
          <a:ln w="12700">
            <a:solidFill>
              <a:srgbClr val="D9D2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34440" y="4882896"/>
            <a:ext cx="9464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A5ACD"/>
                </a:solidFill>
              </a:rPr>
              <a:t>Model C used fewer than half of the original predictors while matching or slightly exceeding Model A across cross-validated metrics.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66928" y="61447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The small apparent advantage of Model C should be interpreted cautiously because feature ranking was exploratory and not nested within cross-validation.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Explainability and fairness audit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Predictive performance was not treated as sufficient evidence of responsible use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557784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82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6B"/>
                </a:solidFill>
              </a:rPr>
              <a:t>Top SHAP predictors | Model 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E293B"/>
                </a:solidFill>
              </a:rPr>
              <a:t>Age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2423160" y="2157984"/>
            <a:ext cx="2880360" cy="201168"/>
          </a:xfrm>
          <a:prstGeom prst="roundRect">
            <a:avLst>
              <a:gd name="adj" fmla="val 1818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2157984"/>
            <a:ext cx="2702052" cy="201168"/>
          </a:xfrm>
          <a:prstGeom prst="roundRect">
            <a:avLst>
              <a:gd name="adj" fmla="val 18182"/>
            </a:avLst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21396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0.394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5420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E293B"/>
                </a:solidFill>
              </a:rPr>
              <a:t>Clear expression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2423160" y="2551176"/>
            <a:ext cx="2880360" cy="201168"/>
          </a:xfrm>
          <a:prstGeom prst="roundRect">
            <a:avLst>
              <a:gd name="adj" fmla="val 1818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2551176"/>
            <a:ext cx="2077974" cy="201168"/>
          </a:xfrm>
          <a:prstGeom prst="roundRect">
            <a:avLst>
              <a:gd name="adj" fmla="val 18182"/>
            </a:avLst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5328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0.303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9352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E293B"/>
                </a:solidFill>
              </a:rPr>
              <a:t>Distracted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423160" y="2944368"/>
            <a:ext cx="2880360" cy="201168"/>
          </a:xfrm>
          <a:prstGeom prst="roundRect">
            <a:avLst>
              <a:gd name="adj" fmla="val 1818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2944368"/>
            <a:ext cx="1447038" cy="201168"/>
          </a:xfrm>
          <a:prstGeom prst="roundRect">
            <a:avLst>
              <a:gd name="adj" fmla="val 18182"/>
            </a:avLst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2926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0.211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3284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E293B"/>
                </a:solidFill>
              </a:rPr>
              <a:t>Sex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2423160" y="3337560"/>
            <a:ext cx="2880360" cy="201168"/>
          </a:xfrm>
          <a:prstGeom prst="roundRect">
            <a:avLst>
              <a:gd name="adj" fmla="val 1818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3337560"/>
            <a:ext cx="1255014" cy="201168"/>
          </a:xfrm>
          <a:prstGeom prst="roundRect">
            <a:avLst>
              <a:gd name="adj" fmla="val 18182"/>
            </a:avLst>
          </a:prstGeom>
          <a:solidFill>
            <a:srgbClr val="DDECF1"/>
          </a:solidFill>
          <a:ln w="12700">
            <a:solidFill>
              <a:srgbClr val="DDEC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33192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0.183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37216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E293B"/>
                </a:solidFill>
              </a:rPr>
              <a:t>Tell story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2423160" y="3730752"/>
            <a:ext cx="2880360" cy="201168"/>
          </a:xfrm>
          <a:prstGeom prst="roundRect">
            <a:avLst>
              <a:gd name="adj" fmla="val 1818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3730752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DDECF1"/>
          </a:solidFill>
          <a:ln w="12700">
            <a:solidFill>
              <a:srgbClr val="DDEC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7124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0.180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41148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E293B"/>
                </a:solidFill>
              </a:rPr>
              <a:t>Focus on task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2423160" y="4123944"/>
            <a:ext cx="2880360" cy="201168"/>
          </a:xfrm>
          <a:prstGeom prst="roundRect">
            <a:avLst>
              <a:gd name="adj" fmla="val 1818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23160" y="4123944"/>
            <a:ext cx="966978" cy="201168"/>
          </a:xfrm>
          <a:prstGeom prst="roundRect">
            <a:avLst>
              <a:gd name="adj" fmla="val 18182"/>
            </a:avLst>
          </a:prstGeom>
          <a:solidFill>
            <a:srgbClr val="DDECF1"/>
          </a:solidFill>
          <a:ln w="12700">
            <a:solidFill>
              <a:srgbClr val="DDEC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41056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0.141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4400" y="45079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E293B"/>
                </a:solidFill>
              </a:rPr>
              <a:t>Calm down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2423160" y="4517136"/>
            <a:ext cx="2880360" cy="201168"/>
          </a:xfrm>
          <a:prstGeom prst="roundRect">
            <a:avLst>
              <a:gd name="adj" fmla="val 1818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160" y="4517136"/>
            <a:ext cx="843534" cy="201168"/>
          </a:xfrm>
          <a:prstGeom prst="roundRect">
            <a:avLst>
              <a:gd name="adj" fmla="val 18182"/>
            </a:avLst>
          </a:prstGeom>
          <a:solidFill>
            <a:srgbClr val="DDECF1"/>
          </a:solidFill>
          <a:ln w="12700">
            <a:solidFill>
              <a:srgbClr val="DDEC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4498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0.123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4400" y="49011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E293B"/>
                </a:solidFill>
              </a:rPr>
              <a:t>Play well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2423160" y="4910328"/>
            <a:ext cx="2880360" cy="201168"/>
          </a:xfrm>
          <a:prstGeom prst="roundRect">
            <a:avLst>
              <a:gd name="adj" fmla="val 1818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4910328"/>
            <a:ext cx="740664" cy="201168"/>
          </a:xfrm>
          <a:prstGeom prst="roundRect">
            <a:avLst>
              <a:gd name="adj" fmla="val 18182"/>
            </a:avLst>
          </a:prstGeom>
          <a:solidFill>
            <a:srgbClr val="DDECF1"/>
          </a:solidFill>
          <a:ln w="12700">
            <a:solidFill>
              <a:srgbClr val="DDEC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4892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0.108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14400" y="5413248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</a:rPr>
              <a:t>SHAP indicates predictive contribution, not causation.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46520" y="1389888"/>
            <a:ext cx="5120640" cy="4343400"/>
          </a:xfrm>
          <a:prstGeom prst="roundRect">
            <a:avLst>
              <a:gd name="adj" fmla="val 1053"/>
            </a:avLst>
          </a:prstGeom>
          <a:solidFill>
            <a:srgbClr val="F1F6F8"/>
          </a:solidFill>
          <a:ln w="12700">
            <a:solidFill>
              <a:srgbClr val="D3E4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48272" y="16824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A4A"/>
                </a:solidFill>
              </a:rPr>
              <a:t>Sex-based fairness audit @ threshold 0.30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67085"/>
                </a:solidFill>
              </a:rPr>
              <a:t>Sensitivity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6784848" y="2606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543800" y="2596896"/>
            <a:ext cx="3154680" cy="256032"/>
          </a:xfrm>
          <a:prstGeom prst="roundRect">
            <a:avLst>
              <a:gd name="adj" fmla="val 14286"/>
            </a:avLst>
          </a:prstGeom>
          <a:solidFill>
            <a:srgbClr val="E5EAF0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43800" y="2596896"/>
            <a:ext cx="1996912" cy="256032"/>
          </a:xfrm>
          <a:prstGeom prst="roundRect">
            <a:avLst>
              <a:gd name="adj" fmla="val 14286"/>
            </a:avLst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16768" y="25968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0.633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84848" y="2999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Female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543800" y="2990088"/>
            <a:ext cx="3154680" cy="256032"/>
          </a:xfrm>
          <a:prstGeom prst="roundRect">
            <a:avLst>
              <a:gd name="adj" fmla="val 14286"/>
            </a:avLst>
          </a:prstGeom>
          <a:solidFill>
            <a:srgbClr val="E5EAF0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3800" y="2990088"/>
            <a:ext cx="1492164" cy="256032"/>
          </a:xfrm>
          <a:prstGeom prst="roundRect">
            <a:avLst>
              <a:gd name="adj" fmla="val 14286"/>
            </a:avLst>
          </a:prstGeom>
          <a:solidFill>
            <a:srgbClr val="B34A4A"/>
          </a:solidFill>
          <a:ln w="12700">
            <a:solidFill>
              <a:srgbClr val="B34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16768" y="2990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0.473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84848" y="35844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67085"/>
                </a:solidFill>
              </a:rPr>
              <a:t>Flagged rate</a:t>
            </a:r>
            <a:endParaRPr lang="en-US" sz="1080" dirty="0"/>
          </a:p>
        </p:txBody>
      </p:sp>
      <p:sp>
        <p:nvSpPr>
          <p:cNvPr id="51" name="Text 49"/>
          <p:cNvSpPr/>
          <p:nvPr/>
        </p:nvSpPr>
        <p:spPr>
          <a:xfrm>
            <a:off x="7543800" y="357530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7324D"/>
                </a:solidFill>
              </a:rPr>
              <a:t>Male 36.3%  |  Female 19.2%</a:t>
            </a:r>
            <a:endParaRPr lang="en-US" sz="1130" dirty="0"/>
          </a:p>
        </p:txBody>
      </p:sp>
      <p:sp>
        <p:nvSpPr>
          <p:cNvPr id="52" name="Shape 50"/>
          <p:cNvSpPr/>
          <p:nvPr/>
        </p:nvSpPr>
        <p:spPr>
          <a:xfrm>
            <a:off x="6784848" y="4160520"/>
            <a:ext cx="4160520" cy="1005840"/>
          </a:xfrm>
          <a:prstGeom prst="roundRect">
            <a:avLst>
              <a:gd name="adj" fmla="val 4545"/>
            </a:avLst>
          </a:prstGeom>
          <a:solidFill>
            <a:srgbClr val="FCEFEF"/>
          </a:solidFill>
          <a:ln w="12700">
            <a:solidFill>
              <a:srgbClr val="F5CAC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22592" y="43708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4A4A"/>
                </a:solidFill>
              </a:rPr>
              <a:t>Key ethical concern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022592" y="4645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</a:rPr>
              <a:t>Because the target reflects recognized concern/support, the labels themselves may encode historical under-recognition. A model can learn and reproduce that pattern.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Conclusions and next research steps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What this capstone supports, and what it does not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52120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709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6B"/>
                </a:solidFill>
              </a:rPr>
              <a:t>What the analysis supports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0976" y="2148840"/>
            <a:ext cx="438912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Machine learning can identify meaningful patterns associated with recognized developmental concern/support.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A reduced 44-feature model retained the predictive signal of the 102-feature model.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Domain-informed and data-driven feature selection showed substantial convergence.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Threshold choice materially changes who is flagged.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</a:rPr>
              <a:t>Fairness auditing reveals risks hidden by aggregate performance.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172200" y="1389888"/>
            <a:ext cx="5349240" cy="4343400"/>
          </a:xfrm>
          <a:prstGeom prst="roundRect">
            <a:avLst>
              <a:gd name="adj" fmla="val 1263"/>
            </a:avLst>
          </a:prstGeom>
          <a:solidFill>
            <a:srgbClr val="F1F6F8"/>
          </a:solidFill>
          <a:ln w="12700">
            <a:solidFill>
              <a:srgbClr val="D3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709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5ACD"/>
                </a:solidFill>
              </a:rPr>
              <a:t>What comes next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73952" y="2176272"/>
            <a:ext cx="365760" cy="365760"/>
          </a:xfrm>
          <a:prstGeom prst="ellipse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2494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67728" y="21945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Nested feature selection / independent validation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73952" y="2761488"/>
            <a:ext cx="365760" cy="365760"/>
          </a:xfrm>
          <a:prstGeom prst="ellipse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8346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67728" y="27797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Prospective outcome labels closer to developmental need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73952" y="3346704"/>
            <a:ext cx="365760" cy="365760"/>
          </a:xfrm>
          <a:prstGeom prst="ellipse">
            <a:avLst/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4198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67728" y="3364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Explicit fairness mitigation and subgroup monitoring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73952" y="3931920"/>
            <a:ext cx="365760" cy="365760"/>
          </a:xfrm>
          <a:prstGeom prst="ellipse">
            <a:avLst/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400507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67728" y="39502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Local Philippine validation and recalibration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517136"/>
            <a:ext cx="365760" cy="365760"/>
          </a:xfrm>
          <a:prstGeom prst="ellipse">
            <a:avLst/>
          </a:prstGeom>
          <a:solidFill>
            <a:srgbClr val="0B5D6B"/>
          </a:solidFill>
          <a:ln w="12700">
            <a:solidFill>
              <a:srgbClr val="0B5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459028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67728" y="45354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Human-in-the-loop workflow testing before deployment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78992" y="5925312"/>
            <a:ext cx="10012680" cy="411480"/>
          </a:xfrm>
          <a:prstGeom prst="roundRect">
            <a:avLst>
              <a:gd name="adj" fmla="val 11111"/>
            </a:avLst>
          </a:prstGeom>
          <a:solidFill>
            <a:srgbClr val="E9F2F4"/>
          </a:solidFill>
          <a:ln w="12700">
            <a:solidFill>
              <a:srgbClr val="D3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6025896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Bottom line: promising proof of concept, not a clinically deployable screening instrument.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Asian Institute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Recognized Developmental Concern or Support in Preschool Children Using Machine Learning</dc:title>
  <dc:subject>AIM AI/ML Capstone Technical Presentation</dc:subject>
  <dc:creator>Victoria Nolasco</dc:creator>
  <cp:lastModifiedBy>Victoria Nolasco</cp:lastModifiedBy>
  <cp:revision>1</cp:revision>
  <dcterms:created xsi:type="dcterms:W3CDTF">2026-09-21T15:15:30Z</dcterms:created>
  <dcterms:modified xsi:type="dcterms:W3CDTF">2026-09-21T15:15:30Z</dcterms:modified>
</cp:coreProperties>
</file>